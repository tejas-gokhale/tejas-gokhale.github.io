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02020"/>
    <a:srgbClr val="FDB515"/>
    <a:srgbClr val="636466"/>
    <a:srgbClr val="DA2128"/>
    <a:srgbClr val="7A0017"/>
    <a:srgbClr val="660033"/>
    <a:srgbClr val="990033"/>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1296" y="-16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s Gokhale" userId="0a6e40ef-7aff-448b-b998-6dea126e3296" providerId="ADAL" clId="{FC816B61-6E42-4A23-8BF6-9198895668C0}"/>
    <pc:docChg chg="custSel modSld">
      <pc:chgData name="Tejas Gokhale" userId="0a6e40ef-7aff-448b-b998-6dea126e3296" providerId="ADAL" clId="{FC816B61-6E42-4A23-8BF6-9198895668C0}" dt="2025-02-15T16:05:17.347" v="8" actId="20577"/>
      <pc:docMkLst>
        <pc:docMk/>
      </pc:docMkLst>
      <pc:sldChg chg="modSp mod">
        <pc:chgData name="Tejas Gokhale" userId="0a6e40ef-7aff-448b-b998-6dea126e3296" providerId="ADAL" clId="{FC816B61-6E42-4A23-8BF6-9198895668C0}" dt="2025-02-15T16:05:17.347" v="8" actId="20577"/>
        <pc:sldMkLst>
          <pc:docMk/>
          <pc:sldMk cId="2157202560" sldId="256"/>
        </pc:sldMkLst>
        <pc:spChg chg="mod">
          <ac:chgData name="Tejas Gokhale" userId="0a6e40ef-7aff-448b-b998-6dea126e3296" providerId="ADAL" clId="{FC816B61-6E42-4A23-8BF6-9198895668C0}" dt="2025-02-15T16:03:51.056" v="1" actId="20577"/>
          <ac:spMkLst>
            <pc:docMk/>
            <pc:sldMk cId="2157202560" sldId="256"/>
            <ac:spMk id="18" creationId="{5E9CE008-1F12-63F4-3D34-4C2995536223}"/>
          </ac:spMkLst>
        </pc:spChg>
        <pc:spChg chg="mod">
          <ac:chgData name="Tejas Gokhale" userId="0a6e40ef-7aff-448b-b998-6dea126e3296" providerId="ADAL" clId="{FC816B61-6E42-4A23-8BF6-9198895668C0}" dt="2025-02-15T16:05:17.347" v="8" actId="20577"/>
          <ac:spMkLst>
            <pc:docMk/>
            <pc:sldMk cId="2157202560" sldId="256"/>
            <ac:spMk id="21" creationId="{555A2736-A833-DA5C-DD55-30BB5DE72B7A}"/>
          </ac:spMkLst>
        </pc:spChg>
      </pc:sldChg>
    </pc:docChg>
  </pc:docChgLst>
  <pc:docChgLst>
    <pc:chgData name="Tejas Gokhale" userId="0a6e40ef-7aff-448b-b998-6dea126e3296" providerId="ADAL" clId="{7C0755A4-A4AB-4FB1-BA50-BFA08E330B8D}"/>
    <pc:docChg chg="undo redo custSel modSld">
      <pc:chgData name="Tejas Gokhale" userId="0a6e40ef-7aff-448b-b998-6dea126e3296" providerId="ADAL" clId="{7C0755A4-A4AB-4FB1-BA50-BFA08E330B8D}" dt="2024-03-02T01:27:09.742" v="184" actId="255"/>
      <pc:docMkLst>
        <pc:docMk/>
      </pc:docMkLst>
      <pc:sldChg chg="addSp delSp modSp mod">
        <pc:chgData name="Tejas Gokhale" userId="0a6e40ef-7aff-448b-b998-6dea126e3296" providerId="ADAL" clId="{7C0755A4-A4AB-4FB1-BA50-BFA08E330B8D}" dt="2024-03-02T01:27:09.742" v="184" actId="255"/>
        <pc:sldMkLst>
          <pc:docMk/>
          <pc:sldMk cId="2157202560" sldId="256"/>
        </pc:sldMkLst>
      </pc:sldChg>
    </pc:docChg>
  </pc:docChgLst>
  <pc:docChgLst>
    <pc:chgData name="Tejas Gokhale" userId="0a6e40ef-7aff-448b-b998-6dea126e3296" providerId="ADAL" clId="{B50F3A32-9D8F-4D6A-BB93-6B29FD4B6B36}"/>
    <pc:docChg chg="undo redo custSel modSld">
      <pc:chgData name="Tejas Gokhale" userId="0a6e40ef-7aff-448b-b998-6dea126e3296" providerId="ADAL" clId="{B50F3A32-9D8F-4D6A-BB93-6B29FD4B6B36}" dt="2024-01-31T17:26:12.443" v="197" actId="1076"/>
      <pc:docMkLst>
        <pc:docMk/>
      </pc:docMkLst>
      <pc:sldChg chg="addSp delSp modSp mod">
        <pc:chgData name="Tejas Gokhale" userId="0a6e40ef-7aff-448b-b998-6dea126e3296" providerId="ADAL" clId="{B50F3A32-9D8F-4D6A-BB93-6B29FD4B6B36}" dt="2024-01-31T17:26:12.443" v="197" actId="1076"/>
        <pc:sldMkLst>
          <pc:docMk/>
          <pc:sldMk cId="2157202560" sldId="25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144548-CE31-441F-AEEE-1D451D9E0324}"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5249-2CE4-4CB8-9729-94D16C5732AA}" type="slidenum">
              <a:rPr lang="en-US" smtClean="0"/>
              <a:t>‹#›</a:t>
            </a:fld>
            <a:endParaRPr lang="en-US"/>
          </a:p>
        </p:txBody>
      </p:sp>
    </p:spTree>
    <p:extLst>
      <p:ext uri="{BB962C8B-B14F-4D97-AF65-F5344CB8AC3E}">
        <p14:creationId xmlns:p14="http://schemas.microsoft.com/office/powerpoint/2010/main" val="44593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7144548-CE31-441F-AEEE-1D451D9E0324}"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5249-2CE4-4CB8-9729-94D16C5732AA}" type="slidenum">
              <a:rPr lang="en-US" smtClean="0"/>
              <a:t>‹#›</a:t>
            </a:fld>
            <a:endParaRPr lang="en-US"/>
          </a:p>
        </p:txBody>
      </p:sp>
    </p:spTree>
    <p:extLst>
      <p:ext uri="{BB962C8B-B14F-4D97-AF65-F5344CB8AC3E}">
        <p14:creationId xmlns:p14="http://schemas.microsoft.com/office/powerpoint/2010/main" val="1748579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solidFill>
              </a:defRPr>
            </a:lvl1pPr>
            <a:lvl2pPr marL="388620" indent="0">
              <a:buNone/>
              <a:defRPr sz="1700">
                <a:solidFill>
                  <a:schemeClr val="tx1">
                    <a:tint val="75000"/>
                  </a:schemeClr>
                </a:solidFill>
              </a:defRPr>
            </a:lvl2pPr>
            <a:lvl3pPr marL="777240" indent="0">
              <a:buNone/>
              <a:defRPr sz="1530">
                <a:solidFill>
                  <a:schemeClr val="tx1">
                    <a:tint val="75000"/>
                  </a:schemeClr>
                </a:solidFill>
              </a:defRPr>
            </a:lvl3pPr>
            <a:lvl4pPr marL="1165860" indent="0">
              <a:buNone/>
              <a:defRPr sz="1360">
                <a:solidFill>
                  <a:schemeClr val="tx1">
                    <a:tint val="75000"/>
                  </a:schemeClr>
                </a:solidFill>
              </a:defRPr>
            </a:lvl4pPr>
            <a:lvl5pPr marL="1554480" indent="0">
              <a:buNone/>
              <a:defRPr sz="1360">
                <a:solidFill>
                  <a:schemeClr val="tx1">
                    <a:tint val="75000"/>
                  </a:schemeClr>
                </a:solidFill>
              </a:defRPr>
            </a:lvl5pPr>
            <a:lvl6pPr marL="1943100" indent="0">
              <a:buNone/>
              <a:defRPr sz="1360">
                <a:solidFill>
                  <a:schemeClr val="tx1">
                    <a:tint val="75000"/>
                  </a:schemeClr>
                </a:solidFill>
              </a:defRPr>
            </a:lvl6pPr>
            <a:lvl7pPr marL="2331720" indent="0">
              <a:buNone/>
              <a:defRPr sz="1360">
                <a:solidFill>
                  <a:schemeClr val="tx1">
                    <a:tint val="75000"/>
                  </a:schemeClr>
                </a:solidFill>
              </a:defRPr>
            </a:lvl7pPr>
            <a:lvl8pPr marL="2720340" indent="0">
              <a:buNone/>
              <a:defRPr sz="1360">
                <a:solidFill>
                  <a:schemeClr val="tx1">
                    <a:tint val="75000"/>
                  </a:schemeClr>
                </a:solidFill>
              </a:defRPr>
            </a:lvl8pPr>
            <a:lvl9pPr marL="3108960" indent="0">
              <a:buNone/>
              <a:defRPr sz="13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144548-CE31-441F-AEEE-1D451D9E0324}"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5249-2CE4-4CB8-9729-94D16C5732AA}" type="slidenum">
              <a:rPr lang="en-US" smtClean="0"/>
              <a:t>‹#›</a:t>
            </a:fld>
            <a:endParaRPr lang="en-US"/>
          </a:p>
        </p:txBody>
      </p:sp>
    </p:spTree>
    <p:extLst>
      <p:ext uri="{BB962C8B-B14F-4D97-AF65-F5344CB8AC3E}">
        <p14:creationId xmlns:p14="http://schemas.microsoft.com/office/powerpoint/2010/main" val="1693030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144548-CE31-441F-AEEE-1D451D9E0324}"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6A5249-2CE4-4CB8-9729-94D16C5732AA}" type="slidenum">
              <a:rPr lang="en-US" smtClean="0"/>
              <a:t>‹#›</a:t>
            </a:fld>
            <a:endParaRPr lang="en-US"/>
          </a:p>
        </p:txBody>
      </p:sp>
    </p:spTree>
    <p:extLst>
      <p:ext uri="{BB962C8B-B14F-4D97-AF65-F5344CB8AC3E}">
        <p14:creationId xmlns:p14="http://schemas.microsoft.com/office/powerpoint/2010/main" val="3289449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144548-CE31-441F-AEEE-1D451D9E0324}" type="datetimeFigureOut">
              <a:rPr lang="en-US" smtClean="0"/>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6A5249-2CE4-4CB8-9729-94D16C5732AA}" type="slidenum">
              <a:rPr lang="en-US" smtClean="0"/>
              <a:t>‹#›</a:t>
            </a:fld>
            <a:endParaRPr lang="en-US"/>
          </a:p>
        </p:txBody>
      </p:sp>
    </p:spTree>
    <p:extLst>
      <p:ext uri="{BB962C8B-B14F-4D97-AF65-F5344CB8AC3E}">
        <p14:creationId xmlns:p14="http://schemas.microsoft.com/office/powerpoint/2010/main" val="2451176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144548-CE31-441F-AEEE-1D451D9E0324}" type="datetimeFigureOut">
              <a:rPr lang="en-US" smtClean="0"/>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6A5249-2CE4-4CB8-9729-94D16C5732AA}" type="slidenum">
              <a:rPr lang="en-US" smtClean="0"/>
              <a:t>‹#›</a:t>
            </a:fld>
            <a:endParaRPr lang="en-US"/>
          </a:p>
        </p:txBody>
      </p:sp>
    </p:spTree>
    <p:extLst>
      <p:ext uri="{BB962C8B-B14F-4D97-AF65-F5344CB8AC3E}">
        <p14:creationId xmlns:p14="http://schemas.microsoft.com/office/powerpoint/2010/main" val="4139868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144548-CE31-441F-AEEE-1D451D9E0324}" type="datetimeFigureOut">
              <a:rPr lang="en-US" smtClean="0"/>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6A5249-2CE4-4CB8-9729-94D16C5732AA}" type="slidenum">
              <a:rPr lang="en-US" smtClean="0"/>
              <a:t>‹#›</a:t>
            </a:fld>
            <a:endParaRPr lang="en-US"/>
          </a:p>
        </p:txBody>
      </p:sp>
    </p:spTree>
    <p:extLst>
      <p:ext uri="{BB962C8B-B14F-4D97-AF65-F5344CB8AC3E}">
        <p14:creationId xmlns:p14="http://schemas.microsoft.com/office/powerpoint/2010/main" val="2542361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B7144548-CE31-441F-AEEE-1D451D9E0324}"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6A5249-2CE4-4CB8-9729-94D16C5732AA}" type="slidenum">
              <a:rPr lang="en-US" smtClean="0"/>
              <a:t>‹#›</a:t>
            </a:fld>
            <a:endParaRPr lang="en-US"/>
          </a:p>
        </p:txBody>
      </p:sp>
    </p:spTree>
    <p:extLst>
      <p:ext uri="{BB962C8B-B14F-4D97-AF65-F5344CB8AC3E}">
        <p14:creationId xmlns:p14="http://schemas.microsoft.com/office/powerpoint/2010/main" val="870188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a:t>Click icon to add picture</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B7144548-CE31-441F-AEEE-1D451D9E0324}"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6A5249-2CE4-4CB8-9729-94D16C5732AA}" type="slidenum">
              <a:rPr lang="en-US" smtClean="0"/>
              <a:t>‹#›</a:t>
            </a:fld>
            <a:endParaRPr lang="en-US"/>
          </a:p>
        </p:txBody>
      </p:sp>
    </p:spTree>
    <p:extLst>
      <p:ext uri="{BB962C8B-B14F-4D97-AF65-F5344CB8AC3E}">
        <p14:creationId xmlns:p14="http://schemas.microsoft.com/office/powerpoint/2010/main" val="1451984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144548-CE31-441F-AEEE-1D451D9E0324}"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5249-2CE4-4CB8-9729-94D16C5732AA}" type="slidenum">
              <a:rPr lang="en-US" smtClean="0"/>
              <a:t>‹#›</a:t>
            </a:fld>
            <a:endParaRPr lang="en-US"/>
          </a:p>
        </p:txBody>
      </p:sp>
    </p:spTree>
    <p:extLst>
      <p:ext uri="{BB962C8B-B14F-4D97-AF65-F5344CB8AC3E}">
        <p14:creationId xmlns:p14="http://schemas.microsoft.com/office/powerpoint/2010/main" val="2397381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144548-CE31-441F-AEEE-1D451D9E0324}"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6A5249-2CE4-4CB8-9729-94D16C5732AA}" type="slidenum">
              <a:rPr lang="en-US" smtClean="0"/>
              <a:t>‹#›</a:t>
            </a:fld>
            <a:endParaRPr lang="en-US"/>
          </a:p>
        </p:txBody>
      </p:sp>
    </p:spTree>
    <p:extLst>
      <p:ext uri="{BB962C8B-B14F-4D97-AF65-F5344CB8AC3E}">
        <p14:creationId xmlns:p14="http://schemas.microsoft.com/office/powerpoint/2010/main" val="2878382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75000"/>
                  </a:schemeClr>
                </a:solidFill>
              </a:defRPr>
            </a:lvl1pPr>
          </a:lstStyle>
          <a:p>
            <a:fld id="{B7144548-CE31-441F-AEEE-1D451D9E0324}" type="datetimeFigureOut">
              <a:rPr lang="en-US" smtClean="0"/>
              <a:t>11/15/2025</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75000"/>
                  </a:schemeClr>
                </a:solidFill>
              </a:defRPr>
            </a:lvl1pPr>
          </a:lstStyle>
          <a:p>
            <a:fld id="{7B6A5249-2CE4-4CB8-9729-94D16C5732AA}" type="slidenum">
              <a:rPr lang="en-US" smtClean="0"/>
              <a:t>‹#›</a:t>
            </a:fld>
            <a:endParaRPr lang="en-US"/>
          </a:p>
        </p:txBody>
      </p:sp>
    </p:spTree>
    <p:extLst>
      <p:ext uri="{BB962C8B-B14F-4D97-AF65-F5344CB8AC3E}">
        <p14:creationId xmlns:p14="http://schemas.microsoft.com/office/powerpoint/2010/main" val="33424514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mailto:gokhale@umbc.edu" TargetMode="External"/><Relationship Id="rId5" Type="http://schemas.openxmlformats.org/officeDocument/2006/relationships/hyperlink" Target="https://www.tejasgokhale.com/seminar.html" TargetMode="External"/><Relationship Id="rId4" Type="http://schemas.openxmlformats.org/officeDocument/2006/relationships/hyperlink" Target="meet.google.com/dgs-edxk-cfq" TargetMode="Externa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BDF542A-C5BA-DFB0-6C23-AB4194EDA75E}"/>
              </a:ext>
            </a:extLst>
          </p:cNvPr>
          <p:cNvSpPr/>
          <p:nvPr/>
        </p:nvSpPr>
        <p:spPr>
          <a:xfrm>
            <a:off x="0" y="4524465"/>
            <a:ext cx="7772400" cy="48121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20" name="Rectangle 19">
            <a:extLst>
              <a:ext uri="{FF2B5EF4-FFF2-40B4-BE49-F238E27FC236}">
                <a16:creationId xmlns:a16="http://schemas.microsoft.com/office/drawing/2014/main" id="{675A8CC2-2D3C-8E9C-7AB0-3CA459CD69D8}"/>
              </a:ext>
            </a:extLst>
          </p:cNvPr>
          <p:cNvSpPr/>
          <p:nvPr/>
        </p:nvSpPr>
        <p:spPr>
          <a:xfrm>
            <a:off x="-25861" y="9271783"/>
            <a:ext cx="7772400" cy="78661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1" name="Rectangle 10">
            <a:extLst>
              <a:ext uri="{FF2B5EF4-FFF2-40B4-BE49-F238E27FC236}">
                <a16:creationId xmlns:a16="http://schemas.microsoft.com/office/drawing/2014/main" id="{AA501004-C794-3E0C-FBE7-DB827F4B8C0F}"/>
              </a:ext>
            </a:extLst>
          </p:cNvPr>
          <p:cNvSpPr/>
          <p:nvPr/>
        </p:nvSpPr>
        <p:spPr>
          <a:xfrm>
            <a:off x="0" y="-48942"/>
            <a:ext cx="7772400" cy="1239068"/>
          </a:xfrm>
          <a:prstGeom prst="rect">
            <a:avLst/>
          </a:prstGeom>
          <a:solidFill>
            <a:srgbClr val="FDB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4" name="Title 3">
            <a:extLst>
              <a:ext uri="{FF2B5EF4-FFF2-40B4-BE49-F238E27FC236}">
                <a16:creationId xmlns:a16="http://schemas.microsoft.com/office/drawing/2014/main" id="{3EAED60F-74CE-C38B-62C7-C27E7E0483B8}"/>
              </a:ext>
            </a:extLst>
          </p:cNvPr>
          <p:cNvSpPr>
            <a:spLocks noGrp="1"/>
          </p:cNvSpPr>
          <p:nvPr>
            <p:ph type="title"/>
          </p:nvPr>
        </p:nvSpPr>
        <p:spPr>
          <a:xfrm>
            <a:off x="1625600" y="99972"/>
            <a:ext cx="4969933" cy="1063752"/>
          </a:xfrm>
        </p:spPr>
        <p:txBody>
          <a:bodyPr anchor="t">
            <a:normAutofit fontScale="90000"/>
          </a:bodyPr>
          <a:lstStyle/>
          <a:p>
            <a:r>
              <a:rPr lang="en-US" sz="5400" b="1" dirty="0">
                <a:latin typeface="Segoe UI Variable Display" pitchFamily="2" charset="0"/>
                <a:ea typeface="Segoe UI Black" panose="020B0A02040204020203" pitchFamily="34" charset="0"/>
                <a:cs typeface="Segoe UI" panose="020B0502040204020203" pitchFamily="34" charset="0"/>
              </a:rPr>
              <a:t>PPR Seminar</a:t>
            </a:r>
            <a:br>
              <a:rPr lang="en-US" sz="4800" b="1" dirty="0">
                <a:latin typeface="Segoe UI Variable Display" pitchFamily="2" charset="0"/>
                <a:ea typeface="Segoe UI Black" panose="020B0A02040204020203" pitchFamily="34" charset="0"/>
                <a:cs typeface="Segoe UI" panose="020B0502040204020203" pitchFamily="34" charset="0"/>
              </a:rPr>
            </a:br>
            <a:r>
              <a:rPr lang="en-US" sz="2000" b="1" dirty="0">
                <a:latin typeface="Segoe UI Variable Display" pitchFamily="2" charset="0"/>
                <a:ea typeface="Segoe UI Black" panose="020B0A02040204020203" pitchFamily="34" charset="0"/>
                <a:cs typeface="Segoe UI" panose="020B0502040204020203" pitchFamily="34" charset="0"/>
              </a:rPr>
              <a:t>Perception, Prediction, and Reasoning</a:t>
            </a:r>
            <a:endParaRPr lang="en-US" b="1" dirty="0">
              <a:latin typeface="Segoe UI Variable Display" pitchFamily="2" charset="0"/>
              <a:ea typeface="Segoe UI Black" panose="020B0A02040204020203" pitchFamily="34" charset="0"/>
              <a:cs typeface="Segoe UI" panose="020B0502040204020203" pitchFamily="34" charset="0"/>
            </a:endParaRPr>
          </a:p>
        </p:txBody>
      </p:sp>
      <p:sp>
        <p:nvSpPr>
          <p:cNvPr id="5" name="Content Placeholder 4">
            <a:extLst>
              <a:ext uri="{FF2B5EF4-FFF2-40B4-BE49-F238E27FC236}">
                <a16:creationId xmlns:a16="http://schemas.microsoft.com/office/drawing/2014/main" id="{F36CAF75-2942-79F2-AD89-A9B660E4C48A}"/>
              </a:ext>
            </a:extLst>
          </p:cNvPr>
          <p:cNvSpPr>
            <a:spLocks noGrp="1"/>
          </p:cNvSpPr>
          <p:nvPr>
            <p:ph idx="1"/>
          </p:nvPr>
        </p:nvSpPr>
        <p:spPr>
          <a:xfrm>
            <a:off x="183244" y="4575902"/>
            <a:ext cx="7438130" cy="4593312"/>
          </a:xfrm>
        </p:spPr>
        <p:txBody>
          <a:bodyPr>
            <a:noAutofit/>
          </a:bodyPr>
          <a:lstStyle/>
          <a:p>
            <a:pPr marL="0" indent="0" algn="just">
              <a:lnSpc>
                <a:spcPct val="100000"/>
              </a:lnSpc>
              <a:spcBef>
                <a:spcPts val="0"/>
              </a:spcBef>
              <a:buNone/>
            </a:pPr>
            <a:r>
              <a:rPr lang="en-US" sz="1450" b="1" spc="-50" dirty="0">
                <a:latin typeface="Segoe UI Variable Display Semil" pitchFamily="2" charset="0"/>
                <a:ea typeface="CMU Bright" panose="02000603000000000000" pitchFamily="2" charset="0"/>
                <a:cs typeface="CMU Bright" panose="02000603000000000000" pitchFamily="2" charset="0"/>
              </a:rPr>
              <a:t>Abstract:   </a:t>
            </a:r>
            <a:r>
              <a:rPr lang="en-US" sz="1450" spc="-50" dirty="0">
                <a:latin typeface="Segoe UI Variable Display Semil" pitchFamily="2" charset="0"/>
                <a:ea typeface="CMU Bright" panose="02000603000000000000" pitchFamily="2" charset="0"/>
                <a:cs typeface="CMU Bright" panose="02000603000000000000" pitchFamily="2" charset="0"/>
              </a:rPr>
              <a:t>Whether tracking emerging events, analyzing economic trends, or understanding public discourse, valuable information is scattered across modalities, from professionally produced news content and curated Wikipedia articles to firsthand footage of disasters livestreamed on social media.  Building systems that can effectively retrieve, reason over, and synthesize these heterogeneous information sources is essential for knowledge-intensive applications.  This talk will focus on advancing both sides of the information-seeking pipeline: retrieving relevant multimodal evidence at scale, and synthesizing that evidence into coherent, Wikipedia-style explanations grounded in verifiable evidence.  For retrieval, we will focus on recent progress in large-scale multimodal retrieval, including new dataset, efficient and scalable first-stage retrieves, and reasoning reranking.  In Wikipedia-style article generation, we will cover benchmarking and evaluating multimodal article generation and a method for enabling the use of VLMs for high-level reasoning.  Together, these components outline a path toward unified systems capable of transforming large collections of multimodal evidence into verifiable, human-readable articles.</a:t>
            </a:r>
          </a:p>
          <a:p>
            <a:pPr marL="0" indent="0" algn="just">
              <a:lnSpc>
                <a:spcPct val="100000"/>
              </a:lnSpc>
              <a:spcBef>
                <a:spcPts val="0"/>
              </a:spcBef>
              <a:buNone/>
            </a:pPr>
            <a:r>
              <a:rPr lang="en-US" sz="1000" spc="-50" dirty="0">
                <a:latin typeface="Segoe UI Variable Display Semil" pitchFamily="2" charset="0"/>
                <a:ea typeface="CMU Bright" panose="02000603000000000000" pitchFamily="2" charset="0"/>
                <a:cs typeface="CMU Bright" panose="02000603000000000000" pitchFamily="2" charset="0"/>
              </a:rPr>
              <a:t> </a:t>
            </a:r>
            <a:endParaRPr lang="en-US" sz="1450" spc="-50" dirty="0">
              <a:latin typeface="Segoe UI Variable Display Semil" pitchFamily="2" charset="0"/>
              <a:ea typeface="CMU Bright" panose="02000603000000000000" pitchFamily="2" charset="0"/>
              <a:cs typeface="CMU Bright" panose="02000603000000000000" pitchFamily="2" charset="0"/>
            </a:endParaRPr>
          </a:p>
          <a:p>
            <a:pPr marL="0" indent="0" algn="just">
              <a:lnSpc>
                <a:spcPct val="100000"/>
              </a:lnSpc>
              <a:spcBef>
                <a:spcPts val="0"/>
              </a:spcBef>
              <a:buNone/>
            </a:pPr>
            <a:r>
              <a:rPr lang="en-US" sz="1450" b="1" spc="-50" dirty="0">
                <a:latin typeface="Segoe UI Variable Display Semil" pitchFamily="2" charset="0"/>
                <a:ea typeface="CMU Bright" panose="02000603000000000000" pitchFamily="2" charset="0"/>
                <a:cs typeface="CMU Bright" panose="02000603000000000000" pitchFamily="2" charset="0"/>
              </a:rPr>
              <a:t>About the Speaker:</a:t>
            </a:r>
            <a:r>
              <a:rPr lang="en-US" sz="1450" spc="-50" dirty="0">
                <a:latin typeface="Segoe UI Variable Display Semil" pitchFamily="2" charset="0"/>
                <a:ea typeface="CMU Bright" panose="02000603000000000000" pitchFamily="2" charset="0"/>
                <a:cs typeface="CMU Bright" panose="02000603000000000000" pitchFamily="2" charset="0"/>
              </a:rPr>
              <a:t>   Alexander Martin is a PhD candidate at Johns Hopkins University’s Center for Language and Speech Processing (CLSP) and Human Language Technology Center of Excellence (HLTCOE).  He is advised by Dr. Benjamin Van </a:t>
            </a:r>
            <a:r>
              <a:rPr lang="en-US" sz="1450" spc="-50" dirty="0" err="1">
                <a:latin typeface="Segoe UI Variable Display Semil" pitchFamily="2" charset="0"/>
                <a:ea typeface="CMU Bright" panose="02000603000000000000" pitchFamily="2" charset="0"/>
                <a:cs typeface="CMU Bright" panose="02000603000000000000" pitchFamily="2" charset="0"/>
              </a:rPr>
              <a:t>Durme</a:t>
            </a:r>
            <a:r>
              <a:rPr lang="en-US" sz="1450" spc="-50" dirty="0">
                <a:latin typeface="Segoe UI Variable Display Semil" pitchFamily="2" charset="0"/>
                <a:ea typeface="CMU Bright" panose="02000603000000000000" pitchFamily="2" charset="0"/>
                <a:cs typeface="CMU Bright" panose="02000603000000000000" pitchFamily="2" charset="0"/>
              </a:rPr>
              <a:t>.  Alex’s research focuses on end-to-end multimodal information retrieval and reasoning.  His work aims to produce Wikipedia-style articles, grounded in retrieved documents and videos, in response to information seeking queries.  His work has been published in CVPR, ACL, NAACL, and EMNLP.  Alex is a recipient of the NSF’s Graduate Research Fellowship.</a:t>
            </a:r>
          </a:p>
          <a:p>
            <a:pPr marL="0" indent="0" algn="just">
              <a:lnSpc>
                <a:spcPct val="100000"/>
              </a:lnSpc>
              <a:spcBef>
                <a:spcPts val="0"/>
              </a:spcBef>
              <a:buNone/>
            </a:pPr>
            <a:endParaRPr lang="en-US" sz="1450" spc="-50" dirty="0">
              <a:latin typeface="Segoe UI Variable Display Semil" pitchFamily="2" charset="0"/>
              <a:ea typeface="CMU Bright" panose="02000603000000000000" pitchFamily="2" charset="0"/>
              <a:cs typeface="CMU Bright" panose="02000603000000000000" pitchFamily="2" charset="0"/>
            </a:endParaRPr>
          </a:p>
        </p:txBody>
      </p:sp>
      <p:sp>
        <p:nvSpPr>
          <p:cNvPr id="6" name="Content Placeholder 4">
            <a:extLst>
              <a:ext uri="{FF2B5EF4-FFF2-40B4-BE49-F238E27FC236}">
                <a16:creationId xmlns:a16="http://schemas.microsoft.com/office/drawing/2014/main" id="{591F2C16-7551-BEC7-C0BB-92146DBE702F}"/>
              </a:ext>
            </a:extLst>
          </p:cNvPr>
          <p:cNvSpPr txBox="1">
            <a:spLocks/>
          </p:cNvSpPr>
          <p:nvPr/>
        </p:nvSpPr>
        <p:spPr>
          <a:xfrm>
            <a:off x="167135" y="7552267"/>
            <a:ext cx="7438130" cy="1719516"/>
          </a:xfrm>
          <a:prstGeom prst="rect">
            <a:avLst/>
          </a:prstGeom>
        </p:spPr>
        <p:txBody>
          <a:bodyPr vert="horz" lIns="91440" tIns="45720" rIns="91440" bIns="45720" rtlCol="0">
            <a:noAutofit/>
          </a:bodyPr>
          <a:lst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marL="0" indent="0" algn="just">
              <a:lnSpc>
                <a:spcPct val="100000"/>
              </a:lnSpc>
              <a:spcBef>
                <a:spcPts val="0"/>
              </a:spcBef>
              <a:buFont typeface="Arial" panose="020B0604020202020204" pitchFamily="34" charset="0"/>
              <a:buNone/>
            </a:pPr>
            <a:endParaRPr lang="en-US" sz="1400" spc="-50" dirty="0">
              <a:latin typeface="Segoe UI Variable Display Semil" pitchFamily="2" charset="0"/>
              <a:ea typeface="CMU Bright" panose="02000603000000000000" pitchFamily="2" charset="0"/>
              <a:cs typeface="CMU Bright" panose="02000603000000000000" pitchFamily="2" charset="0"/>
            </a:endParaRPr>
          </a:p>
        </p:txBody>
      </p:sp>
      <p:pic>
        <p:nvPicPr>
          <p:cNvPr id="1032" name="Picture 8">
            <a:extLst>
              <a:ext uri="{FF2B5EF4-FFF2-40B4-BE49-F238E27FC236}">
                <a16:creationId xmlns:a16="http://schemas.microsoft.com/office/drawing/2014/main" id="{5C22C2C4-189A-F12A-846F-D71FDBB790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908" y="99972"/>
            <a:ext cx="1034566" cy="103456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B626F19E-8FFD-8440-9A0D-F8428BD2A6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14" y="9374352"/>
            <a:ext cx="2265240" cy="521893"/>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52D81623-A97C-2887-0234-DEB591D6F952}"/>
              </a:ext>
            </a:extLst>
          </p:cNvPr>
          <p:cNvGrpSpPr/>
          <p:nvPr/>
        </p:nvGrpSpPr>
        <p:grpSpPr>
          <a:xfrm>
            <a:off x="0" y="2954926"/>
            <a:ext cx="7772400" cy="1569538"/>
            <a:chOff x="0" y="3416600"/>
            <a:chExt cx="7772400" cy="1779535"/>
          </a:xfrm>
          <a:solidFill>
            <a:srgbClr val="A02020"/>
          </a:solidFill>
        </p:grpSpPr>
        <p:sp>
          <p:nvSpPr>
            <p:cNvPr id="22" name="Rectangle 21">
              <a:extLst>
                <a:ext uri="{FF2B5EF4-FFF2-40B4-BE49-F238E27FC236}">
                  <a16:creationId xmlns:a16="http://schemas.microsoft.com/office/drawing/2014/main" id="{FBAB5ABC-7915-4FC3-7CE5-EAD1EA49D187}"/>
                </a:ext>
              </a:extLst>
            </p:cNvPr>
            <p:cNvSpPr/>
            <p:nvPr/>
          </p:nvSpPr>
          <p:spPr>
            <a:xfrm>
              <a:off x="0" y="3416600"/>
              <a:ext cx="7772400" cy="177953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5E9CE008-1F12-63F4-3D34-4C2995536223}"/>
                </a:ext>
              </a:extLst>
            </p:cNvPr>
            <p:cNvSpPr txBox="1"/>
            <p:nvPr/>
          </p:nvSpPr>
          <p:spPr>
            <a:xfrm>
              <a:off x="287746" y="3533892"/>
              <a:ext cx="7171139" cy="1657537"/>
            </a:xfrm>
            <a:prstGeom prst="rect">
              <a:avLst/>
            </a:prstGeom>
            <a:grpFill/>
          </p:spPr>
          <p:txBody>
            <a:bodyPr wrap="square">
              <a:spAutoFit/>
            </a:bodyPr>
            <a:lstStyle/>
            <a:p>
              <a:pPr algn="ctr"/>
              <a:r>
                <a:rPr lang="en-US" sz="2400" b="1" dirty="0">
                  <a:solidFill>
                    <a:schemeClr val="bg1"/>
                  </a:solidFill>
                  <a:latin typeface="Segoe UI Variable Display" pitchFamily="2" charset="0"/>
                </a:rPr>
                <a:t>Wikipedia from the World:</a:t>
              </a:r>
            </a:p>
            <a:p>
              <a:pPr algn="ctr"/>
              <a:r>
                <a:rPr lang="en-US" sz="2400" b="1" dirty="0">
                  <a:solidFill>
                    <a:schemeClr val="bg1"/>
                  </a:solidFill>
                  <a:latin typeface="Segoe UI Variable Display" pitchFamily="2" charset="0"/>
                </a:rPr>
                <a:t>Grounded Articles from Any Source</a:t>
              </a:r>
              <a:br>
                <a:rPr lang="en-US" sz="2400" b="1" dirty="0">
                  <a:solidFill>
                    <a:schemeClr val="bg1"/>
                  </a:solidFill>
                  <a:latin typeface="Segoe UI Variable Display" pitchFamily="2" charset="0"/>
                </a:rPr>
              </a:br>
              <a:r>
                <a:rPr lang="en-US" sz="1050" b="1" dirty="0">
                  <a:solidFill>
                    <a:schemeClr val="bg1"/>
                  </a:solidFill>
                  <a:latin typeface="Segoe UI Variable Display" pitchFamily="2" charset="0"/>
                </a:rPr>
                <a:t> </a:t>
              </a:r>
              <a:r>
                <a:rPr lang="en-US" sz="1400" b="1" dirty="0">
                  <a:solidFill>
                    <a:schemeClr val="bg1"/>
                  </a:solidFill>
                  <a:latin typeface="Segoe UI Variable Display" pitchFamily="2" charset="0"/>
                </a:rPr>
                <a:t> </a:t>
              </a:r>
              <a:br>
                <a:rPr lang="en-US" sz="2400" b="1" dirty="0">
                  <a:solidFill>
                    <a:schemeClr val="bg1"/>
                  </a:solidFill>
                  <a:latin typeface="Segoe UI Variable Display" pitchFamily="2" charset="0"/>
                </a:rPr>
              </a:br>
              <a:r>
                <a:rPr lang="en-US" sz="500" b="1" dirty="0">
                  <a:solidFill>
                    <a:schemeClr val="bg1"/>
                  </a:solidFill>
                  <a:latin typeface="Segoe UI Variable Display" pitchFamily="2" charset="0"/>
                </a:rPr>
                <a:t> </a:t>
              </a:r>
              <a:endParaRPr lang="en-US" sz="2400" b="1" dirty="0">
                <a:solidFill>
                  <a:schemeClr val="bg1"/>
                </a:solidFill>
                <a:latin typeface="Segoe UI Variable Display" pitchFamily="2" charset="0"/>
              </a:endParaRPr>
            </a:p>
            <a:p>
              <a:pPr algn="ctr"/>
              <a:r>
                <a:rPr lang="en-US" sz="2000" dirty="0">
                  <a:solidFill>
                    <a:schemeClr val="bg2"/>
                  </a:solidFill>
                  <a:latin typeface="Segoe UI Variable Display" pitchFamily="2" charset="0"/>
                </a:rPr>
                <a:t>Nov 24, 2025;  4:00 – 5:00 PM;  ITE 229 / </a:t>
              </a:r>
              <a:r>
                <a:rPr lang="en-US" sz="2000" dirty="0">
                  <a:solidFill>
                    <a:schemeClr val="bg2"/>
                  </a:solidFill>
                  <a:latin typeface="Segoe UI Variable Display" pitchFamily="2" charset="0"/>
                  <a:hlinkClick r:id="rId4" action="ppaction://hlinkfile">
                    <a:extLst>
                      <a:ext uri="{A12FA001-AC4F-418D-AE19-62706E023703}">
                        <ahyp:hlinkClr xmlns:ahyp="http://schemas.microsoft.com/office/drawing/2018/hyperlinkcolor" val="tx"/>
                      </a:ext>
                    </a:extLst>
                  </a:hlinkClick>
                </a:rPr>
                <a:t>Google Meet</a:t>
              </a:r>
              <a:endParaRPr lang="en-US" sz="2400" dirty="0">
                <a:solidFill>
                  <a:schemeClr val="bg2"/>
                </a:solidFill>
                <a:latin typeface="Segoe UI Variable Display" pitchFamily="2" charset="0"/>
              </a:endParaRPr>
            </a:p>
          </p:txBody>
        </p:sp>
      </p:grpSp>
      <p:sp>
        <p:nvSpPr>
          <p:cNvPr id="21" name="Content Placeholder 4">
            <a:extLst>
              <a:ext uri="{FF2B5EF4-FFF2-40B4-BE49-F238E27FC236}">
                <a16:creationId xmlns:a16="http://schemas.microsoft.com/office/drawing/2014/main" id="{555A2736-A833-DA5C-DD55-30BB5DE72B7A}"/>
              </a:ext>
            </a:extLst>
          </p:cNvPr>
          <p:cNvSpPr txBox="1">
            <a:spLocks/>
          </p:cNvSpPr>
          <p:nvPr/>
        </p:nvSpPr>
        <p:spPr>
          <a:xfrm>
            <a:off x="2864528" y="9319769"/>
            <a:ext cx="4740737" cy="631057"/>
          </a:xfrm>
          <a:prstGeom prst="rect">
            <a:avLst/>
          </a:prstGeom>
        </p:spPr>
        <p:txBody>
          <a:bodyPr vert="horz" lIns="91440" tIns="45720" rIns="91440" bIns="45720" rtlCol="0" anchor="b">
            <a:normAutofit/>
          </a:bodyPr>
          <a:lst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marL="0" indent="0" algn="r">
              <a:buFont typeface="Arial" panose="020B0604020202020204" pitchFamily="34" charset="0"/>
              <a:buNone/>
            </a:pPr>
            <a:r>
              <a:rPr lang="en-US" sz="1400" dirty="0">
                <a:solidFill>
                  <a:schemeClr val="bg1">
                    <a:lumMod val="95000"/>
                  </a:schemeClr>
                </a:solidFill>
                <a:latin typeface="Segoe UI Variable Display Semil" pitchFamily="2" charset="0"/>
                <a:cs typeface="Segoe UI Light" panose="020B0502040204020203" pitchFamily="34" charset="0"/>
              </a:rPr>
              <a:t>PPR Seminar: </a:t>
            </a:r>
            <a:r>
              <a:rPr lang="en-US" sz="1400" dirty="0">
                <a:solidFill>
                  <a:srgbClr val="00B0F0"/>
                </a:solidFill>
                <a:latin typeface="Segoe UI Variable Display Semil" pitchFamily="2" charset="0"/>
                <a:cs typeface="Segoe UI Light" panose="020B0502040204020203" pitchFamily="34" charset="0"/>
                <a:hlinkClick r:id="rId5">
                  <a:extLst>
                    <a:ext uri="{A12FA001-AC4F-418D-AE19-62706E023703}">
                      <ahyp:hlinkClr xmlns:ahyp="http://schemas.microsoft.com/office/drawing/2018/hyperlinkcolor" val="tx"/>
                    </a:ext>
                  </a:extLst>
                </a:hlinkClick>
              </a:rPr>
              <a:t>https://www.tejasgokhale.com/seminar.html</a:t>
            </a:r>
            <a:r>
              <a:rPr lang="en-US" sz="1400" dirty="0">
                <a:solidFill>
                  <a:srgbClr val="00B0F0"/>
                </a:solidFill>
                <a:latin typeface="Segoe UI Variable Display Semil" pitchFamily="2" charset="0"/>
                <a:cs typeface="Segoe UI Light" panose="020B0502040204020203" pitchFamily="34" charset="0"/>
              </a:rPr>
              <a:t> </a:t>
            </a:r>
            <a:br>
              <a:rPr lang="en-US" sz="1600" dirty="0">
                <a:solidFill>
                  <a:schemeClr val="bg1">
                    <a:lumMod val="95000"/>
                  </a:schemeClr>
                </a:solidFill>
                <a:latin typeface="Segoe UI Variable Display Semil" pitchFamily="2" charset="0"/>
                <a:cs typeface="Segoe UI Light" panose="020B0502040204020203" pitchFamily="34" charset="0"/>
              </a:rPr>
            </a:br>
            <a:r>
              <a:rPr lang="en-US" sz="1400" dirty="0">
                <a:solidFill>
                  <a:schemeClr val="bg1">
                    <a:lumMod val="95000"/>
                  </a:schemeClr>
                </a:solidFill>
                <a:latin typeface="Segoe UI Variable Display Semil" pitchFamily="2" charset="0"/>
                <a:cs typeface="Segoe UI Light" panose="020B0502040204020203" pitchFamily="34" charset="0"/>
              </a:rPr>
              <a:t>Hosted by Prof. Tejas Gokhale:  </a:t>
            </a:r>
            <a:r>
              <a:rPr lang="en-US" sz="1400" dirty="0">
                <a:solidFill>
                  <a:srgbClr val="00B0F0"/>
                </a:solidFill>
                <a:latin typeface="Segoe UI Variable Display Semil" pitchFamily="2" charset="0"/>
                <a:cs typeface="Segoe UI Light" panose="020B0502040204020203" pitchFamily="34" charset="0"/>
                <a:hlinkClick r:id="rId6">
                  <a:extLst>
                    <a:ext uri="{A12FA001-AC4F-418D-AE19-62706E023703}">
                      <ahyp:hlinkClr xmlns:ahyp="http://schemas.microsoft.com/office/drawing/2018/hyperlinkcolor" val="tx"/>
                    </a:ext>
                  </a:extLst>
                </a:hlinkClick>
              </a:rPr>
              <a:t>gokhale@umbc.edu</a:t>
            </a:r>
            <a:r>
              <a:rPr lang="en-US" sz="1400" dirty="0">
                <a:solidFill>
                  <a:srgbClr val="00B0F0"/>
                </a:solidFill>
                <a:latin typeface="Segoe UI Variable Display Semil" pitchFamily="2" charset="0"/>
                <a:cs typeface="Segoe UI Light" panose="020B0502040204020203" pitchFamily="34" charset="0"/>
              </a:rPr>
              <a:t> </a:t>
            </a:r>
            <a:endParaRPr lang="en-US" sz="1600" dirty="0">
              <a:solidFill>
                <a:srgbClr val="00B0F0"/>
              </a:solidFill>
              <a:latin typeface="Segoe UI Variable Display Semil" pitchFamily="2" charset="0"/>
              <a:cs typeface="Segoe UI Light" panose="020B0502040204020203" pitchFamily="34" charset="0"/>
            </a:endParaRPr>
          </a:p>
        </p:txBody>
      </p:sp>
      <p:grpSp>
        <p:nvGrpSpPr>
          <p:cNvPr id="19" name="Group 18">
            <a:extLst>
              <a:ext uri="{FF2B5EF4-FFF2-40B4-BE49-F238E27FC236}">
                <a16:creationId xmlns:a16="http://schemas.microsoft.com/office/drawing/2014/main" id="{3DBFF2E2-EA4B-EE24-A10E-26DE58154A80}"/>
              </a:ext>
            </a:extLst>
          </p:cNvPr>
          <p:cNvGrpSpPr/>
          <p:nvPr/>
        </p:nvGrpSpPr>
        <p:grpSpPr>
          <a:xfrm>
            <a:off x="0" y="1190126"/>
            <a:ext cx="7772400" cy="1764957"/>
            <a:chOff x="0" y="1766935"/>
            <a:chExt cx="7772400" cy="1859411"/>
          </a:xfrm>
          <a:solidFill>
            <a:srgbClr val="636466"/>
          </a:solidFill>
        </p:grpSpPr>
        <p:sp>
          <p:nvSpPr>
            <p:cNvPr id="10" name="Rectangle 9">
              <a:extLst>
                <a:ext uri="{FF2B5EF4-FFF2-40B4-BE49-F238E27FC236}">
                  <a16:creationId xmlns:a16="http://schemas.microsoft.com/office/drawing/2014/main" id="{F87C4D91-A58F-C724-601A-7123C4503D00}"/>
                </a:ext>
              </a:extLst>
            </p:cNvPr>
            <p:cNvSpPr/>
            <p:nvPr/>
          </p:nvSpPr>
          <p:spPr>
            <a:xfrm>
              <a:off x="0" y="1766935"/>
              <a:ext cx="7772400" cy="1859411"/>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Segoe UI" panose="020B0502040204020203" pitchFamily="34" charset="0"/>
                <a:cs typeface="Segoe UI" panose="020B0502040204020203" pitchFamily="34" charset="0"/>
              </a:endParaRPr>
            </a:p>
          </p:txBody>
        </p:sp>
        <p:sp>
          <p:nvSpPr>
            <p:cNvPr id="9" name="Content Placeholder 4">
              <a:extLst>
                <a:ext uri="{FF2B5EF4-FFF2-40B4-BE49-F238E27FC236}">
                  <a16:creationId xmlns:a16="http://schemas.microsoft.com/office/drawing/2014/main" id="{3B765482-3325-3A8A-0C42-B67C7676E714}"/>
                </a:ext>
              </a:extLst>
            </p:cNvPr>
            <p:cNvSpPr txBox="1">
              <a:spLocks/>
            </p:cNvSpPr>
            <p:nvPr/>
          </p:nvSpPr>
          <p:spPr>
            <a:xfrm>
              <a:off x="1981200" y="1822326"/>
              <a:ext cx="5317307" cy="1738947"/>
            </a:xfrm>
            <a:prstGeom prst="rect">
              <a:avLst/>
            </a:prstGeom>
            <a:grpFill/>
          </p:spPr>
          <p:txBody>
            <a:bodyPr vert="horz" lIns="91440" tIns="45720" rIns="91440" bIns="45720" rtlCol="0">
              <a:normAutofit/>
            </a:bodyPr>
            <a:lst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3000" b="1" dirty="0">
                  <a:solidFill>
                    <a:schemeClr val="bg1">
                      <a:lumMod val="95000"/>
                    </a:schemeClr>
                  </a:solidFill>
                  <a:latin typeface="Segoe UI Variable Display" pitchFamily="2" charset="0"/>
                  <a:cs typeface="Segoe UI" panose="020B0502040204020203" pitchFamily="34" charset="0"/>
                </a:rPr>
                <a:t>Alexander Martin</a:t>
              </a:r>
              <a:br>
                <a:rPr lang="en-US" sz="2000" dirty="0">
                  <a:solidFill>
                    <a:schemeClr val="bg1">
                      <a:lumMod val="95000"/>
                    </a:schemeClr>
                  </a:solidFill>
                  <a:latin typeface="Segoe UI Variable Display" pitchFamily="2" charset="0"/>
                  <a:cs typeface="Segoe UI" panose="020B0502040204020203" pitchFamily="34" charset="0"/>
                </a:rPr>
              </a:br>
              <a:r>
                <a:rPr lang="en-US" sz="1400" dirty="0">
                  <a:solidFill>
                    <a:schemeClr val="bg1">
                      <a:lumMod val="95000"/>
                    </a:schemeClr>
                  </a:solidFill>
                  <a:latin typeface="Segoe UI Variable Display" pitchFamily="2" charset="0"/>
                  <a:cs typeface="Segoe UI" panose="020B0502040204020203" pitchFamily="34" charset="0"/>
                </a:rPr>
                <a:t> </a:t>
              </a:r>
              <a:br>
                <a:rPr lang="en-US" sz="2000" dirty="0">
                  <a:solidFill>
                    <a:schemeClr val="bg1">
                      <a:lumMod val="95000"/>
                    </a:schemeClr>
                  </a:solidFill>
                  <a:latin typeface="Segoe UI Variable Display" pitchFamily="2" charset="0"/>
                  <a:cs typeface="Segoe UI" panose="020B0502040204020203" pitchFamily="34" charset="0"/>
                </a:rPr>
              </a:br>
              <a:r>
                <a:rPr lang="en-US" sz="1700" dirty="0">
                  <a:solidFill>
                    <a:schemeClr val="bg1">
                      <a:lumMod val="95000"/>
                    </a:schemeClr>
                  </a:solidFill>
                  <a:latin typeface="Segoe UI Variable Display" pitchFamily="2" charset="0"/>
                  <a:cs typeface="Segoe UI" panose="020B0502040204020203" pitchFamily="34" charset="0"/>
                </a:rPr>
                <a:t>Ph.D. Student,</a:t>
              </a:r>
              <a:br>
                <a:rPr lang="en-US" sz="1700" dirty="0">
                  <a:solidFill>
                    <a:schemeClr val="bg1">
                      <a:lumMod val="95000"/>
                    </a:schemeClr>
                  </a:solidFill>
                  <a:latin typeface="Segoe UI Variable Display" pitchFamily="2" charset="0"/>
                  <a:cs typeface="Segoe UI" panose="020B0502040204020203" pitchFamily="34" charset="0"/>
                </a:rPr>
              </a:br>
              <a:r>
                <a:rPr lang="en-US" sz="1700" dirty="0">
                  <a:solidFill>
                    <a:schemeClr val="bg1">
                      <a:lumMod val="95000"/>
                    </a:schemeClr>
                  </a:solidFill>
                  <a:latin typeface="Segoe UI Variable Display" pitchFamily="2" charset="0"/>
                  <a:cs typeface="Segoe UI" panose="020B0502040204020203" pitchFamily="34" charset="0"/>
                </a:rPr>
                <a:t>Johns Hopkins University</a:t>
              </a:r>
            </a:p>
            <a:p>
              <a:pPr marL="0" indent="0">
                <a:lnSpc>
                  <a:spcPct val="100000"/>
                </a:lnSpc>
                <a:buFont typeface="Arial" panose="020B0604020202020204" pitchFamily="34" charset="0"/>
                <a:buNone/>
              </a:pPr>
              <a:r>
                <a:rPr lang="en-US" sz="1500" dirty="0">
                  <a:solidFill>
                    <a:schemeClr val="accent4"/>
                  </a:solidFill>
                  <a:latin typeface="Segoe UI Variable Display" pitchFamily="2" charset="0"/>
                  <a:cs typeface="Segoe UI" panose="020B0502040204020203" pitchFamily="34" charset="0"/>
                </a:rPr>
                <a:t>https://alexmartin1722.github.io/ </a:t>
              </a:r>
            </a:p>
          </p:txBody>
        </p:sp>
      </p:grpSp>
      <p:pic>
        <p:nvPicPr>
          <p:cNvPr id="1026" name="Picture 2">
            <a:extLst>
              <a:ext uri="{FF2B5EF4-FFF2-40B4-BE49-F238E27FC236}">
                <a16:creationId xmlns:a16="http://schemas.microsoft.com/office/drawing/2014/main" id="{BF32D2EE-144A-9AB6-D866-264EB31BC53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419" y="1312638"/>
            <a:ext cx="1540548" cy="154054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logo with a yellow background&#10;&#10;AI-generated content may be incorrect.">
            <a:extLst>
              <a:ext uri="{FF2B5EF4-FFF2-40B4-BE49-F238E27FC236}">
                <a16:creationId xmlns:a16="http://schemas.microsoft.com/office/drawing/2014/main" id="{C461D213-EC6A-93C8-BE5C-30129A2C5F8B}"/>
              </a:ext>
            </a:extLst>
          </p:cNvPr>
          <p:cNvPicPr>
            <a:picLocks noChangeAspect="1"/>
          </p:cNvPicPr>
          <p:nvPr/>
        </p:nvPicPr>
        <p:blipFill>
          <a:blip r:embed="rId8">
            <a:extLst>
              <a:ext uri="{28A0092B-C50C-407E-A947-70E740481C1C}">
                <a14:useLocalDpi xmlns:a14="http://schemas.microsoft.com/office/drawing/2010/main" val="0"/>
              </a:ext>
            </a:extLst>
          </a:blip>
          <a:srcRect l="16008" r="15501" b="28724"/>
          <a:stretch>
            <a:fillRect/>
          </a:stretch>
        </p:blipFill>
        <p:spPr>
          <a:xfrm>
            <a:off x="6424319" y="78953"/>
            <a:ext cx="1034566" cy="1076604"/>
          </a:xfrm>
          <a:prstGeom prst="rect">
            <a:avLst/>
          </a:prstGeom>
        </p:spPr>
      </p:pic>
      <p:pic>
        <p:nvPicPr>
          <p:cNvPr id="1042" name="Picture 18" descr="MURI">
            <a:extLst>
              <a:ext uri="{FF2B5EF4-FFF2-40B4-BE49-F238E27FC236}">
                <a16:creationId xmlns:a16="http://schemas.microsoft.com/office/drawing/2014/main" id="{F7971773-E7CA-62C2-1903-F9DF9727E7F5}"/>
              </a:ext>
            </a:extLst>
          </p:cNvPr>
          <p:cNvPicPr>
            <a:picLocks noChangeAspect="1" noChangeArrowheads="1"/>
          </p:cNvPicPr>
          <p:nvPr/>
        </p:nvPicPr>
        <p:blipFill>
          <a:blip r:embed="rId9">
            <a:biLevel thresh="50000"/>
            <a:extLst>
              <a:ext uri="{28A0092B-C50C-407E-A947-70E740481C1C}">
                <a14:useLocalDpi xmlns:a14="http://schemas.microsoft.com/office/drawing/2010/main" val="0"/>
              </a:ext>
            </a:extLst>
          </a:blip>
          <a:srcRect/>
          <a:stretch>
            <a:fillRect/>
          </a:stretch>
        </p:blipFill>
        <p:spPr bwMode="auto">
          <a:xfrm>
            <a:off x="5080685" y="1507066"/>
            <a:ext cx="2378200" cy="1125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72025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Semibold (Headings) Helvetica (Body)">
      <a:majorFont>
        <a:latin typeface="Segoe UI Semibold"/>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558</TotalTime>
  <Words>368</Words>
  <Application>Microsoft Office PowerPoint</Application>
  <PresentationFormat>Custom</PresentationFormat>
  <Paragraphs>10</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Helvetica</vt:lpstr>
      <vt:lpstr>Segoe UI</vt:lpstr>
      <vt:lpstr>Segoe UI Semibold</vt:lpstr>
      <vt:lpstr>Segoe UI Variable Display</vt:lpstr>
      <vt:lpstr>Segoe UI Variable Display Semil</vt:lpstr>
      <vt:lpstr>Office Theme</vt:lpstr>
      <vt:lpstr>PPR Seminar Perception, Prediction, and Reasoning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PPR Seminar Advances in Perception, Prediction, and Reasoning</dc:title>
  <dc:creator>Tejas Gokhale</dc:creator>
  <cp:lastModifiedBy>Tejas Gokhale</cp:lastModifiedBy>
  <cp:revision>13</cp:revision>
  <dcterms:created xsi:type="dcterms:W3CDTF">2024-01-31T15:18:43Z</dcterms:created>
  <dcterms:modified xsi:type="dcterms:W3CDTF">2025-11-16T02:03:28Z</dcterms:modified>
</cp:coreProperties>
</file>