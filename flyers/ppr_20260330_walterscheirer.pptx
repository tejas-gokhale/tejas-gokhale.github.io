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2020"/>
    <a:srgbClr val="FDB515"/>
    <a:srgbClr val="F2F2F2"/>
    <a:srgbClr val="636466"/>
    <a:srgbClr val="DA2128"/>
    <a:srgbClr val="7A0017"/>
    <a:srgbClr val="660033"/>
    <a:srgbClr val="990033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19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jas Gokhale" userId="0a6e40ef-7aff-448b-b998-6dea126e3296" providerId="ADAL" clId="{FC816B61-6E42-4A23-8BF6-9198895668C0}"/>
    <pc:docChg chg="custSel modSld">
      <pc:chgData name="Tejas Gokhale" userId="0a6e40ef-7aff-448b-b998-6dea126e3296" providerId="ADAL" clId="{FC816B61-6E42-4A23-8BF6-9198895668C0}" dt="2025-02-15T16:05:17.347" v="8" actId="20577"/>
      <pc:docMkLst>
        <pc:docMk/>
      </pc:docMkLst>
      <pc:sldChg chg="modSp mod">
        <pc:chgData name="Tejas Gokhale" userId="0a6e40ef-7aff-448b-b998-6dea126e3296" providerId="ADAL" clId="{FC816B61-6E42-4A23-8BF6-9198895668C0}" dt="2025-02-15T16:05:17.347" v="8" actId="20577"/>
        <pc:sldMkLst>
          <pc:docMk/>
          <pc:sldMk cId="2157202560" sldId="256"/>
        </pc:sldMkLst>
        <pc:spChg chg="mod">
          <ac:chgData name="Tejas Gokhale" userId="0a6e40ef-7aff-448b-b998-6dea126e3296" providerId="ADAL" clId="{FC816B61-6E42-4A23-8BF6-9198895668C0}" dt="2025-02-15T16:03:51.056" v="1" actId="20577"/>
          <ac:spMkLst>
            <pc:docMk/>
            <pc:sldMk cId="2157202560" sldId="256"/>
            <ac:spMk id="18" creationId="{5E9CE008-1F12-63F4-3D34-4C2995536223}"/>
          </ac:spMkLst>
        </pc:spChg>
        <pc:spChg chg="mod">
          <ac:chgData name="Tejas Gokhale" userId="0a6e40ef-7aff-448b-b998-6dea126e3296" providerId="ADAL" clId="{FC816B61-6E42-4A23-8BF6-9198895668C0}" dt="2025-02-15T16:05:17.347" v="8" actId="20577"/>
          <ac:spMkLst>
            <pc:docMk/>
            <pc:sldMk cId="2157202560" sldId="256"/>
            <ac:spMk id="21" creationId="{555A2736-A833-DA5C-DD55-30BB5DE72B7A}"/>
          </ac:spMkLst>
        </pc:spChg>
      </pc:sldChg>
    </pc:docChg>
  </pc:docChgLst>
  <pc:docChgLst>
    <pc:chgData name="Tejas Gokhale" userId="0a6e40ef-7aff-448b-b998-6dea126e3296" providerId="ADAL" clId="{7C0755A4-A4AB-4FB1-BA50-BFA08E330B8D}"/>
    <pc:docChg chg="undo redo custSel modSld">
      <pc:chgData name="Tejas Gokhale" userId="0a6e40ef-7aff-448b-b998-6dea126e3296" providerId="ADAL" clId="{7C0755A4-A4AB-4FB1-BA50-BFA08E330B8D}" dt="2024-03-02T01:27:09.742" v="184" actId="255"/>
      <pc:docMkLst>
        <pc:docMk/>
      </pc:docMkLst>
      <pc:sldChg chg="addSp delSp modSp mod">
        <pc:chgData name="Tejas Gokhale" userId="0a6e40ef-7aff-448b-b998-6dea126e3296" providerId="ADAL" clId="{7C0755A4-A4AB-4FB1-BA50-BFA08E330B8D}" dt="2024-03-02T01:27:09.742" v="184" actId="255"/>
        <pc:sldMkLst>
          <pc:docMk/>
          <pc:sldMk cId="2157202560" sldId="256"/>
        </pc:sldMkLst>
      </pc:sldChg>
    </pc:docChg>
  </pc:docChgLst>
  <pc:docChgLst>
    <pc:chgData name="Tejas Gokhale" userId="0a6e40ef-7aff-448b-b998-6dea126e3296" providerId="ADAL" clId="{B50F3A32-9D8F-4D6A-BB93-6B29FD4B6B36}"/>
    <pc:docChg chg="undo redo custSel modSld">
      <pc:chgData name="Tejas Gokhale" userId="0a6e40ef-7aff-448b-b998-6dea126e3296" providerId="ADAL" clId="{B50F3A32-9D8F-4D6A-BB93-6B29FD4B6B36}" dt="2024-01-31T17:26:12.443" v="197" actId="1076"/>
      <pc:docMkLst>
        <pc:docMk/>
      </pc:docMkLst>
      <pc:sldChg chg="addSp delSp modSp mod">
        <pc:chgData name="Tejas Gokhale" userId="0a6e40ef-7aff-448b-b998-6dea126e3296" providerId="ADAL" clId="{B50F3A32-9D8F-4D6A-BB93-6B29FD4B6B36}" dt="2024-01-31T17:26:12.443" v="197" actId="1076"/>
        <pc:sldMkLst>
          <pc:docMk/>
          <pc:sldMk cId="215720256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4548-CE31-441F-AEEE-1D451D9E032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5249-2CE4-4CB8-9729-94D16C5732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3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4548-CE31-441F-AEEE-1D451D9E032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5249-2CE4-4CB8-9729-94D16C5732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79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4548-CE31-441F-AEEE-1D451D9E032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5249-2CE4-4CB8-9729-94D16C5732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30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4548-CE31-441F-AEEE-1D451D9E032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5249-2CE4-4CB8-9729-94D16C5732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44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4548-CE31-441F-AEEE-1D451D9E032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5249-2CE4-4CB8-9729-94D16C5732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176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4548-CE31-441F-AEEE-1D451D9E032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5249-2CE4-4CB8-9729-94D16C5732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868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4548-CE31-441F-AEEE-1D451D9E032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5249-2CE4-4CB8-9729-94D16C5732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361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4548-CE31-441F-AEEE-1D451D9E032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5249-2CE4-4CB8-9729-94D16C5732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188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4548-CE31-441F-AEEE-1D451D9E032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5249-2CE4-4CB8-9729-94D16C5732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984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4548-CE31-441F-AEEE-1D451D9E032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5249-2CE4-4CB8-9729-94D16C5732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81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44548-CE31-441F-AEEE-1D451D9E032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5249-2CE4-4CB8-9729-94D16C5732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382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44548-CE31-441F-AEEE-1D451D9E032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A5249-2CE4-4CB8-9729-94D16C5732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45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jscheirer.com/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mailto:gokhale@umbc.edu" TargetMode="External"/><Relationship Id="rId10" Type="http://schemas.openxmlformats.org/officeDocument/2006/relationships/image" Target="../media/image5.png"/><Relationship Id="rId4" Type="http://schemas.openxmlformats.org/officeDocument/2006/relationships/hyperlink" Target="https://www.tejasgokhale.com/seminar.html" TargetMode="External"/><Relationship Id="rId9" Type="http://schemas.openxmlformats.org/officeDocument/2006/relationships/hyperlink" Target="https://meet.google.com/mcv-bdaq-au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BDF542A-C5BA-DFB0-6C23-AB4194EDA75E}"/>
              </a:ext>
            </a:extLst>
          </p:cNvPr>
          <p:cNvSpPr/>
          <p:nvPr/>
        </p:nvSpPr>
        <p:spPr>
          <a:xfrm>
            <a:off x="0" y="4524465"/>
            <a:ext cx="7772400" cy="48121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Segoe UI" panose="020B0502040204020203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5A8CC2-2D3C-8E9C-7AB0-3CA459CD69D8}"/>
              </a:ext>
            </a:extLst>
          </p:cNvPr>
          <p:cNvSpPr/>
          <p:nvPr/>
        </p:nvSpPr>
        <p:spPr>
          <a:xfrm>
            <a:off x="0" y="9207002"/>
            <a:ext cx="7772400" cy="8513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Segoe UI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501004-C794-3E0C-FBE7-DB827F4B8C0F}"/>
              </a:ext>
            </a:extLst>
          </p:cNvPr>
          <p:cNvSpPr/>
          <p:nvPr/>
        </p:nvSpPr>
        <p:spPr>
          <a:xfrm>
            <a:off x="0" y="-48942"/>
            <a:ext cx="7772400" cy="1239068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AED60F-74CE-C38B-62C7-C27E7E048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4" y="99972"/>
            <a:ext cx="7318551" cy="1063752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sz="5400" b="1" dirty="0">
                <a:latin typeface="Segoe UI Variable Display" pitchFamily="2" charset="0"/>
                <a:ea typeface="Segoe UI Black" panose="020B0A02040204020203" pitchFamily="34" charset="0"/>
                <a:cs typeface="Segoe UI" panose="020B0502040204020203" pitchFamily="34" charset="0"/>
              </a:rPr>
              <a:t>PPR Seminar</a:t>
            </a:r>
            <a:br>
              <a:rPr lang="en-US" sz="4800" b="1" dirty="0">
                <a:latin typeface="Segoe UI Variable Display" pitchFamily="2" charset="0"/>
                <a:ea typeface="Segoe UI Black" panose="020B0A02040204020203" pitchFamily="34" charset="0"/>
                <a:cs typeface="Segoe UI" panose="020B0502040204020203" pitchFamily="34" charset="0"/>
              </a:rPr>
            </a:br>
            <a:r>
              <a:rPr lang="en-US" sz="2000" b="1" dirty="0">
                <a:latin typeface="Segoe UI Variable Display" pitchFamily="2" charset="0"/>
                <a:ea typeface="Segoe UI Black" panose="020B0A02040204020203" pitchFamily="34" charset="0"/>
                <a:cs typeface="Segoe UI" panose="020B0502040204020203" pitchFamily="34" charset="0"/>
              </a:rPr>
              <a:t>Perception, Prediction, and Reasoning</a:t>
            </a:r>
            <a:endParaRPr lang="en-US" b="1" dirty="0">
              <a:latin typeface="Segoe UI Variable Display" pitchFamily="2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6CAF75-2942-79F2-AD89-A9B660E4C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996" y="4905325"/>
            <a:ext cx="7412269" cy="430167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spc="-50" dirty="0">
                <a:ea typeface="CMU Bright" panose="02000603000000000000" pitchFamily="2" charset="0"/>
                <a:cs typeface="CMU Bright" panose="02000603000000000000" pitchFamily="2" charset="0"/>
              </a:rPr>
              <a:t>Abstract:   </a:t>
            </a:r>
            <a:r>
              <a:rPr lang="en-US" sz="1500" spc="-50" dirty="0">
                <a:ea typeface="CMU Bright" panose="02000603000000000000" pitchFamily="2" charset="0"/>
                <a:cs typeface="CMU Bright" panose="02000603000000000000" pitchFamily="2" charset="0"/>
              </a:rPr>
              <a:t>Meaningful progress has been made in open world learning (OWL), enhancing the ability of agents to detect, characterize, and incrementally learn novelty in dynamic environments. However, novelty remains a persistent challenge for agents relying on state-of-the-art learning algorithms. This talk considers the current state of OWL, drawing on insights from a recent DARPA research program on this topic. I identify open issues that impede further advancements spanning theory, design, and evaluation. In particular, I emphasize the challenges posed by dynamic scenarios that are crucial to understand for ensuring the viability of agents designed for real-world environments. The talk provides suggestions for setting a new research agenda that effectively addresses these open issues.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spc="-50" dirty="0">
                <a:ea typeface="CMU Bright" panose="02000603000000000000" pitchFamily="2" charset="0"/>
                <a:cs typeface="CMU Bright" panose="02000603000000000000" pitchFamily="2" charset="0"/>
              </a:rPr>
              <a:t>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spc="-50" dirty="0">
                <a:ea typeface="CMU Bright" panose="02000603000000000000" pitchFamily="2" charset="0"/>
                <a:cs typeface="CMU Bright" panose="02000603000000000000" pitchFamily="2" charset="0"/>
              </a:rPr>
              <a:t>The Speaker:</a:t>
            </a:r>
            <a:r>
              <a:rPr lang="en-US" sz="1500" spc="-50" dirty="0">
                <a:ea typeface="CMU Bright" panose="02000603000000000000" pitchFamily="2" charset="0"/>
                <a:cs typeface="CMU Bright" panose="02000603000000000000" pitchFamily="2" charset="0"/>
              </a:rPr>
              <a:t> Dr. Scheirer’s research interests within computer science include artificial intelligence, computer vision, machine learning, and digital humanities.  His research has helped establish the areas of open set recognition &amp; open world learning in computer vision.  He serves on the </a:t>
            </a:r>
            <a:r>
              <a:rPr lang="en-US" sz="1500" dirty="0"/>
              <a:t>IEEE CS Board of Governors</a:t>
            </a:r>
            <a:r>
              <a:rPr lang="en-US" sz="1500" spc="-50" dirty="0">
                <a:ea typeface="CMU Bright" panose="02000603000000000000" pitchFamily="2" charset="0"/>
                <a:cs typeface="CMU Bright" panose="02000603000000000000" pitchFamily="2" charset="0"/>
              </a:rPr>
              <a:t>, CTO of the Computer Vision Foundation, and </a:t>
            </a:r>
            <a:r>
              <a:rPr lang="en-US" sz="1500" dirty="0"/>
              <a:t>Chair Emeritus of </a:t>
            </a:r>
            <a:r>
              <a:rPr lang="en-US" sz="1500" spc="-50" dirty="0">
                <a:ea typeface="CMU Bright" panose="02000603000000000000" pitchFamily="2" charset="0"/>
                <a:cs typeface="CMU Bright" panose="02000603000000000000" pitchFamily="2" charset="0"/>
              </a:rPr>
              <a:t>IEEE PAMI-TC.  He received his Ph.D. from the University of Colorado and his M.S. and B.A. degrees from Lehigh University.  Prof. Scheirer is also a recognized cultural critic and historian, commenting on the social context of emerging technologies, such as his most recent book: A History of Fake Things on the Internet.  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91F2C16-7551-BEC7-C0BB-92146DBE702F}"/>
              </a:ext>
            </a:extLst>
          </p:cNvPr>
          <p:cNvSpPr txBox="1">
            <a:spLocks/>
          </p:cNvSpPr>
          <p:nvPr/>
        </p:nvSpPr>
        <p:spPr>
          <a:xfrm>
            <a:off x="167135" y="7552267"/>
            <a:ext cx="7438130" cy="17195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4310" indent="-194310" algn="l" defTabSz="777240" rtl="0" eaLnBrk="1" latinLnBrk="0" hangingPunct="1">
              <a:lnSpc>
                <a:spcPct val="9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 sz="23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29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5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01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4879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spc="-50" dirty="0"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5C22C2C4-189A-F12A-846F-D71FDBB79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19" y="90057"/>
            <a:ext cx="1034566" cy="1034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B626F19E-8FFD-8440-9A0D-F8428BD2A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19" y="9295259"/>
            <a:ext cx="2753548" cy="634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555A2736-A833-DA5C-DD55-30BB5DE72B7A}"/>
              </a:ext>
            </a:extLst>
          </p:cNvPr>
          <p:cNvSpPr txBox="1">
            <a:spLocks/>
          </p:cNvSpPr>
          <p:nvPr/>
        </p:nvSpPr>
        <p:spPr>
          <a:xfrm>
            <a:off x="2864528" y="9319769"/>
            <a:ext cx="4740737" cy="63105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194310" indent="-194310" algn="l" defTabSz="777240" rtl="0" eaLnBrk="1" latinLnBrk="0" hangingPunct="1">
              <a:lnSpc>
                <a:spcPct val="9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 sz="23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29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5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01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4879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cs typeface="Segoe UI Light" panose="020B0502040204020203" pitchFamily="34" charset="0"/>
              </a:rPr>
              <a:t>PPR Seminar: </a:t>
            </a:r>
            <a:r>
              <a:rPr lang="en-US" sz="1400" dirty="0">
                <a:solidFill>
                  <a:srgbClr val="00B0F0"/>
                </a:solidFill>
                <a:cs typeface="Segoe UI Light" panose="020B05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https://www.tejasgokhale.com/seminar.html</a:t>
            </a:r>
            <a:r>
              <a:rPr lang="en-US" sz="1400" dirty="0">
                <a:solidFill>
                  <a:srgbClr val="00B0F0"/>
                </a:solidFill>
                <a:cs typeface="Segoe UI Light" panose="020B0502040204020203" pitchFamily="34" charset="0"/>
              </a:rPr>
              <a:t> </a:t>
            </a:r>
            <a:br>
              <a:rPr lang="en-US" sz="1600" dirty="0">
                <a:solidFill>
                  <a:schemeClr val="bg1">
                    <a:lumMod val="95000"/>
                  </a:schemeClr>
                </a:solidFill>
                <a:cs typeface="Segoe UI Light" panose="020B0502040204020203" pitchFamily="34" charset="0"/>
              </a:rPr>
            </a:br>
            <a:r>
              <a:rPr lang="en-US" sz="1400" dirty="0">
                <a:solidFill>
                  <a:schemeClr val="bg1">
                    <a:lumMod val="95000"/>
                  </a:schemeClr>
                </a:solidFill>
                <a:cs typeface="Segoe UI Light" panose="020B0502040204020203" pitchFamily="34" charset="0"/>
              </a:rPr>
              <a:t>Hosted by Prof. Tejas Gokhale:  </a:t>
            </a:r>
            <a:r>
              <a:rPr lang="en-US" sz="1400" dirty="0">
                <a:solidFill>
                  <a:srgbClr val="00B0F0"/>
                </a:solidFill>
                <a:cs typeface="Segoe UI Light" panose="020B050204020402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gokhale@umbc.edu</a:t>
            </a:r>
            <a:r>
              <a:rPr lang="en-US" sz="1400" dirty="0">
                <a:solidFill>
                  <a:srgbClr val="00B0F0"/>
                </a:solidFill>
                <a:cs typeface="Segoe UI Light" panose="020B0502040204020203" pitchFamily="34" charset="0"/>
              </a:rPr>
              <a:t> </a:t>
            </a:r>
            <a:endParaRPr lang="en-US" sz="1600" dirty="0">
              <a:solidFill>
                <a:srgbClr val="00B0F0"/>
              </a:solidFill>
              <a:cs typeface="Segoe UI Light" panose="020B0502040204020203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DBFF2E2-EA4B-EE24-A10E-26DE58154A80}"/>
              </a:ext>
            </a:extLst>
          </p:cNvPr>
          <p:cNvGrpSpPr/>
          <p:nvPr/>
        </p:nvGrpSpPr>
        <p:grpSpPr>
          <a:xfrm>
            <a:off x="0" y="1190127"/>
            <a:ext cx="7772400" cy="1849090"/>
            <a:chOff x="0" y="1766935"/>
            <a:chExt cx="7772400" cy="2131619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87C4D91-A58F-C724-601A-7123C4503D00}"/>
                </a:ext>
              </a:extLst>
            </p:cNvPr>
            <p:cNvSpPr/>
            <p:nvPr/>
          </p:nvSpPr>
          <p:spPr>
            <a:xfrm>
              <a:off x="0" y="1766935"/>
              <a:ext cx="7772400" cy="21316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Segoe UI" panose="020B0502040204020203" pitchFamily="34" charset="0"/>
              </a:endParaRPr>
            </a:p>
          </p:txBody>
        </p:sp>
        <p:sp>
          <p:nvSpPr>
            <p:cNvPr id="9" name="Content Placeholder 4">
              <a:extLst>
                <a:ext uri="{FF2B5EF4-FFF2-40B4-BE49-F238E27FC236}">
                  <a16:creationId xmlns:a16="http://schemas.microsoft.com/office/drawing/2014/main" id="{3B765482-3325-3A8A-0C42-B67C7676E714}"/>
                </a:ext>
              </a:extLst>
            </p:cNvPr>
            <p:cNvSpPr txBox="1">
              <a:spLocks/>
            </p:cNvSpPr>
            <p:nvPr/>
          </p:nvSpPr>
          <p:spPr>
            <a:xfrm>
              <a:off x="2160934" y="2511458"/>
              <a:ext cx="5169261" cy="887542"/>
            </a:xfrm>
            <a:prstGeom prst="rect">
              <a:avLst/>
            </a:prstGeom>
            <a:grpFill/>
          </p:spPr>
          <p:txBody>
            <a:bodyPr vert="horz" lIns="91440" tIns="45720" rIns="91440" bIns="45720" rtlCol="0">
              <a:normAutofit/>
            </a:bodyPr>
            <a:lstStyle>
              <a:lvl1pPr marL="194310" indent="-194310" algn="l" defTabSz="777240" rtl="0" eaLnBrk="1" latinLnBrk="0" hangingPunct="1">
                <a:lnSpc>
                  <a:spcPct val="90000"/>
                </a:lnSpc>
                <a:spcBef>
                  <a:spcPts val="850"/>
                </a:spcBef>
                <a:buFont typeface="Arial" panose="020B0604020202020204" pitchFamily="34" charset="0"/>
                <a:buChar char="•"/>
                <a:defRPr sz="238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82930" indent="-194310" algn="l" defTabSz="777240" rtl="0" eaLnBrk="1" latinLnBrk="0" hangingPunct="1">
                <a:lnSpc>
                  <a:spcPct val="90000"/>
                </a:lnSpc>
                <a:spcBef>
                  <a:spcPts val="425"/>
                </a:spcBef>
                <a:buFont typeface="Arial" panose="020B0604020202020204" pitchFamily="34" charset="0"/>
                <a:buChar char="•"/>
                <a:defRPr sz="20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71550" indent="-194310" algn="l" defTabSz="777240" rtl="0" eaLnBrk="1" latinLnBrk="0" hangingPunct="1">
                <a:lnSpc>
                  <a:spcPct val="90000"/>
                </a:lnSpc>
                <a:spcBef>
                  <a:spcPts val="425"/>
                </a:spcBef>
                <a:buFont typeface="Arial" panose="020B0604020202020204" pitchFamily="34" charset="0"/>
                <a:buChar char="•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60170" indent="-194310" algn="l" defTabSz="777240" rtl="0" eaLnBrk="1" latinLnBrk="0" hangingPunct="1">
                <a:lnSpc>
                  <a:spcPct val="90000"/>
                </a:lnSpc>
                <a:spcBef>
                  <a:spcPts val="425"/>
                </a:spcBef>
                <a:buFont typeface="Arial" panose="020B0604020202020204" pitchFamily="34" charset="0"/>
                <a:buChar char="•"/>
                <a:defRPr sz="153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48790" indent="-194310" algn="l" defTabSz="777240" rtl="0" eaLnBrk="1" latinLnBrk="0" hangingPunct="1">
                <a:lnSpc>
                  <a:spcPct val="90000"/>
                </a:lnSpc>
                <a:spcBef>
                  <a:spcPts val="425"/>
                </a:spcBef>
                <a:buFont typeface="Arial" panose="020B0604020202020204" pitchFamily="34" charset="0"/>
                <a:buChar char="•"/>
                <a:defRPr sz="153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37410" indent="-194310" algn="l" defTabSz="777240" rtl="0" eaLnBrk="1" latinLnBrk="0" hangingPunct="1">
                <a:lnSpc>
                  <a:spcPct val="90000"/>
                </a:lnSpc>
                <a:spcBef>
                  <a:spcPts val="425"/>
                </a:spcBef>
                <a:buFont typeface="Arial" panose="020B0604020202020204" pitchFamily="34" charset="0"/>
                <a:buChar char="•"/>
                <a:defRPr sz="153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26030" indent="-194310" algn="l" defTabSz="777240" rtl="0" eaLnBrk="1" latinLnBrk="0" hangingPunct="1">
                <a:lnSpc>
                  <a:spcPct val="90000"/>
                </a:lnSpc>
                <a:spcBef>
                  <a:spcPts val="425"/>
                </a:spcBef>
                <a:buFont typeface="Arial" panose="020B0604020202020204" pitchFamily="34" charset="0"/>
                <a:buChar char="•"/>
                <a:defRPr sz="153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914650" indent="-194310" algn="l" defTabSz="777240" rtl="0" eaLnBrk="1" latinLnBrk="0" hangingPunct="1">
                <a:lnSpc>
                  <a:spcPct val="90000"/>
                </a:lnSpc>
                <a:spcBef>
                  <a:spcPts val="425"/>
                </a:spcBef>
                <a:buFont typeface="Arial" panose="020B0604020202020204" pitchFamily="34" charset="0"/>
                <a:buChar char="•"/>
                <a:defRPr sz="153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303270" indent="-194310" algn="l" defTabSz="777240" rtl="0" eaLnBrk="1" latinLnBrk="0" hangingPunct="1">
                <a:lnSpc>
                  <a:spcPct val="90000"/>
                </a:lnSpc>
                <a:spcBef>
                  <a:spcPts val="425"/>
                </a:spcBef>
                <a:buFont typeface="Arial" panose="020B0604020202020204" pitchFamily="34" charset="0"/>
                <a:buChar char="•"/>
                <a:defRPr sz="153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Font typeface="Arial" panose="020B0604020202020204" pitchFamily="34" charset="0"/>
                <a:buNone/>
              </a:pPr>
              <a:r>
                <a:rPr lang="en-US" sz="1600" dirty="0">
                  <a:solidFill>
                    <a:schemeClr val="bg1">
                      <a:lumMod val="95000"/>
                    </a:schemeClr>
                  </a:solidFill>
                  <a:cs typeface="Segoe UI" panose="020B0502040204020203" pitchFamily="34" charset="0"/>
                </a:rPr>
                <a:t>Dennis O. Doughty Collegiate Professor of Engineering</a:t>
              </a:r>
            </a:p>
            <a:p>
              <a:pPr marL="0" indent="0">
                <a:lnSpc>
                  <a:spcPct val="100000"/>
                </a:lnSpc>
                <a:buFont typeface="Arial" panose="020B0604020202020204" pitchFamily="34" charset="0"/>
                <a:buNone/>
              </a:pPr>
              <a:r>
                <a:rPr lang="en-US" sz="1600" dirty="0">
                  <a:solidFill>
                    <a:schemeClr val="bg1">
                      <a:lumMod val="95000"/>
                    </a:schemeClr>
                  </a:solidFill>
                  <a:cs typeface="Segoe UI" panose="020B0502040204020203" pitchFamily="34" charset="0"/>
                </a:rPr>
                <a:t>University of Notre Dame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FA317E41-B448-735F-4F1B-D8241F12A78A}"/>
              </a:ext>
            </a:extLst>
          </p:cNvPr>
          <p:cNvSpPr/>
          <p:nvPr/>
        </p:nvSpPr>
        <p:spPr>
          <a:xfrm>
            <a:off x="0" y="3011147"/>
            <a:ext cx="7772400" cy="1783103"/>
          </a:xfrm>
          <a:prstGeom prst="rect">
            <a:avLst/>
          </a:prstGeom>
          <a:solidFill>
            <a:srgbClr val="A02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logo with a yellow background&#10;&#10;AI-generated content may be incorrect.">
            <a:extLst>
              <a:ext uri="{FF2B5EF4-FFF2-40B4-BE49-F238E27FC236}">
                <a16:creationId xmlns:a16="http://schemas.microsoft.com/office/drawing/2014/main" id="{C461D213-EC6A-93C8-BE5C-30129A2C5F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08" r="15501" b="28724"/>
          <a:stretch>
            <a:fillRect/>
          </a:stretch>
        </p:blipFill>
        <p:spPr>
          <a:xfrm>
            <a:off x="6570699" y="51986"/>
            <a:ext cx="1034566" cy="1076604"/>
          </a:xfrm>
          <a:prstGeom prst="rect">
            <a:avLst/>
          </a:prstGeom>
        </p:spPr>
      </p:pic>
      <p:pic>
        <p:nvPicPr>
          <p:cNvPr id="2" name="Picture 2" descr="Professor Walter Scheirer">
            <a:extLst>
              <a:ext uri="{FF2B5EF4-FFF2-40B4-BE49-F238E27FC236}">
                <a16:creationId xmlns:a16="http://schemas.microsoft.com/office/drawing/2014/main" id="{2C9C5091-EB4C-1DB4-8983-4B90E01B4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14" y="1306444"/>
            <a:ext cx="1603198" cy="160319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D13A91F-8E87-EA2E-9E7C-A2F428CE2B2E}"/>
              </a:ext>
            </a:extLst>
          </p:cNvPr>
          <p:cNvSpPr txBox="1"/>
          <p:nvPr/>
        </p:nvSpPr>
        <p:spPr>
          <a:xfrm>
            <a:off x="2160934" y="1339040"/>
            <a:ext cx="53247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cs typeface="Segoe UI" panose="020B0502040204020203" pitchFamily="34" charset="0"/>
              </a:rPr>
              <a:t>Walter J. Scheirer</a:t>
            </a:r>
            <a:endParaRPr 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563089-A3B9-3CBF-7EE2-FA170C51E257}"/>
              </a:ext>
            </a:extLst>
          </p:cNvPr>
          <p:cNvSpPr txBox="1"/>
          <p:nvPr/>
        </p:nvSpPr>
        <p:spPr>
          <a:xfrm>
            <a:off x="2160935" y="2617995"/>
            <a:ext cx="38992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600" b="1" dirty="0">
                <a:solidFill>
                  <a:schemeClr val="accent4"/>
                </a:solidFill>
                <a:cs typeface="Segoe UI" panose="020B0502040204020203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https://www.wjscheirer.com/</a:t>
            </a:r>
            <a:r>
              <a:rPr lang="en-US" sz="1600" b="1" dirty="0">
                <a:solidFill>
                  <a:schemeClr val="accent4"/>
                </a:solidFill>
                <a:cs typeface="Segoe UI" panose="020B0502040204020203" pitchFamily="34" charset="0"/>
              </a:rPr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E9CE008-1F12-63F4-3D34-4C2995536223}"/>
                  </a:ext>
                </a:extLst>
              </p:cNvPr>
              <p:cNvSpPr txBox="1"/>
              <p:nvPr/>
            </p:nvSpPr>
            <p:spPr>
              <a:xfrm>
                <a:off x="0" y="3020914"/>
                <a:ext cx="7772400" cy="1712200"/>
              </a:xfrm>
              <a:prstGeom prst="rect">
                <a:avLst/>
              </a:prstGeom>
              <a:solidFill>
                <a:srgbClr val="A02020"/>
              </a:solidFill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⋆</m:t>
                    </m:r>
                  </m:oMath>
                </a14:m>
                <a:r>
                  <a:rPr lang="en-US" sz="2400" b="1" dirty="0">
                    <a:solidFill>
                      <a:schemeClr val="bg1"/>
                    </a:solidFill>
                  </a:rPr>
                  <a:t> </a:t>
                </a:r>
                <a:r>
                  <a:rPr lang="en-US" sz="2400" b="1" u="sng" dirty="0">
                    <a:solidFill>
                      <a:schemeClr val="bg1"/>
                    </a:solidFill>
                  </a:rPr>
                  <a:t>Distinguished Lecture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⋆</m:t>
                    </m:r>
                  </m:oMath>
                </a14:m>
                <a:r>
                  <a:rPr lang="en-US" sz="2400" b="1" dirty="0">
                    <a:solidFill>
                      <a:schemeClr val="bg1"/>
                    </a:solidFill>
                  </a:rPr>
                  <a:t> </a:t>
                </a:r>
              </a:p>
              <a:p>
                <a:pPr algn="ctr"/>
                <a:r>
                  <a:rPr lang="en-US" sz="2400" b="1" dirty="0">
                    <a:solidFill>
                      <a:schemeClr val="bg1"/>
                    </a:solidFill>
                  </a:rPr>
                  <a:t>Open Issues in Open World Learning</a:t>
                </a:r>
                <a:br>
                  <a:rPr lang="en-US" sz="2400" b="1" dirty="0">
                    <a:solidFill>
                      <a:schemeClr val="bg1"/>
                    </a:solidFill>
                  </a:rPr>
                </a:br>
                <a:r>
                  <a:rPr lang="en-US" sz="1050" b="1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b="1" dirty="0">
                    <a:solidFill>
                      <a:schemeClr val="bg1"/>
                    </a:solidFill>
                  </a:rPr>
                  <a:t> </a:t>
                </a:r>
                <a:r>
                  <a:rPr lang="en-US" sz="500" b="1" dirty="0">
                    <a:solidFill>
                      <a:schemeClr val="bg1"/>
                    </a:solidFill>
                  </a:rPr>
                  <a:t> </a:t>
                </a:r>
                <a:endParaRPr lang="en-US" sz="2400" b="1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sz="2000" dirty="0">
                    <a:solidFill>
                      <a:schemeClr val="bg1">
                        <a:lumMod val="95000"/>
                      </a:schemeClr>
                    </a:solidFill>
                  </a:rPr>
                  <a:t>March 30, 2026; 1130 – 1230; ITE 459 </a:t>
                </a:r>
              </a:p>
              <a:p>
                <a:pPr algn="ctr"/>
                <a:r>
                  <a:rPr lang="en-US" sz="1600" dirty="0">
                    <a:solidFill>
                      <a:schemeClr val="bg1">
                        <a:lumMod val="95000"/>
                      </a:schemeClr>
                    </a:solidFill>
                  </a:rPr>
                  <a:t>(or Google Meet: </a:t>
                </a:r>
                <a:r>
                  <a:rPr lang="en-US" sz="1600" dirty="0">
                    <a:solidFill>
                      <a:srgbClr val="FFC000"/>
                    </a:solidFill>
                    <a:hlinkClick r:id="rId9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https://meet.google.com/mcv-bdaq-aud</a:t>
                </a:r>
                <a:r>
                  <a:rPr lang="en-US" sz="1600" dirty="0">
                    <a:solidFill>
                      <a:srgbClr val="FFC000"/>
                    </a:solidFill>
                  </a:rPr>
                  <a:t> </a:t>
                </a:r>
                <a:r>
                  <a:rPr lang="en-US" sz="1600" dirty="0">
                    <a:solidFill>
                      <a:schemeClr val="bg1">
                        <a:lumMod val="95000"/>
                      </a:schemeClr>
                    </a:solidFill>
                  </a:rPr>
                  <a:t>)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E9CE008-1F12-63F4-3D34-4C2995536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20914"/>
                <a:ext cx="7772400" cy="1712200"/>
              </a:xfrm>
              <a:prstGeom prst="rect">
                <a:avLst/>
              </a:prstGeom>
              <a:blipFill>
                <a:blip r:embed="rId10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7202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 Semibold (Headings) Helvetica (Body)">
      <a:majorFont>
        <a:latin typeface="Segoe UI Semibold"/>
        <a:ea typeface=""/>
        <a:cs typeface=""/>
      </a:majorFont>
      <a:minorFont>
        <a:latin typeface="Helvetic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1637</TotalTime>
  <Words>361</Words>
  <Application>Microsoft Office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Cambria Math</vt:lpstr>
      <vt:lpstr>CMU Bright</vt:lpstr>
      <vt:lpstr>Helvetica</vt:lpstr>
      <vt:lpstr>Segoe UI</vt:lpstr>
      <vt:lpstr>Segoe UI Light</vt:lpstr>
      <vt:lpstr>Segoe UI Semibold</vt:lpstr>
      <vt:lpstr>Segoe UI Variable Display</vt:lpstr>
      <vt:lpstr>Office Theme</vt:lpstr>
      <vt:lpstr>PPR Seminar Perception, Prediction, and Reasoning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PPR Seminar Advances in Perception, Prediction, and Reasoning</dc:title>
  <dc:creator>Tejas Gokhale</dc:creator>
  <cp:lastModifiedBy>Tejas Gokhale</cp:lastModifiedBy>
  <cp:revision>17</cp:revision>
  <dcterms:created xsi:type="dcterms:W3CDTF">2024-01-31T15:18:43Z</dcterms:created>
  <dcterms:modified xsi:type="dcterms:W3CDTF">2026-03-23T22:00:34Z</dcterms:modified>
</cp:coreProperties>
</file>